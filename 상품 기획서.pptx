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8" r:id="rId3"/>
    <p:sldId id="257" r:id="rId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8C33B90-BAAC-4CBC-8DBB-C1CFDFB8418E}">
  <a:tblStyle styleId="{B8C33B90-BAAC-4CBC-8DBB-C1CFDFB8418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36" autoAdjust="0"/>
    <p:restoredTop sz="94660"/>
  </p:normalViewPr>
  <p:slideViewPr>
    <p:cSldViewPr snapToGrid="0">
      <p:cViewPr varScale="1">
        <p:scale>
          <a:sx n="98" d="100"/>
          <a:sy n="98" d="100"/>
        </p:scale>
        <p:origin x="1826" y="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855237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1507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algun Gothic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/>
          </a:p>
        </p:txBody>
      </p:sp>
      <p:graphicFrame>
        <p:nvGraphicFramePr>
          <p:cNvPr id="86" name="Google Shape;86;p13"/>
          <p:cNvGraphicFramePr/>
          <p:nvPr>
            <p:extLst>
              <p:ext uri="{D42A27DB-BD31-4B8C-83A1-F6EECF244321}">
                <p14:modId xmlns:p14="http://schemas.microsoft.com/office/powerpoint/2010/main" val="2729719752"/>
              </p:ext>
            </p:extLst>
          </p:nvPr>
        </p:nvGraphicFramePr>
        <p:xfrm>
          <a:off x="107092" y="338555"/>
          <a:ext cx="8954530" cy="5192479"/>
        </p:xfrm>
        <a:graphic>
          <a:graphicData uri="http://schemas.openxmlformats.org/drawingml/2006/table">
            <a:tbl>
              <a:tblPr>
                <a:noFill/>
                <a:tableStyleId>{B8C33B90-BAAC-4CBC-8DBB-C1CFDFB8418E}</a:tableStyleId>
              </a:tblPr>
              <a:tblGrid>
                <a:gridCol w="226436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69016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3735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1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분 류</a:t>
                      </a:r>
                      <a:endParaRPr sz="1800" u="none" strike="noStrike" cap="none" dirty="0"/>
                    </a:p>
                  </a:txBody>
                  <a:tcPr marL="67725" marR="67725" marT="33875" marB="3387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1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  용</a:t>
                      </a:r>
                      <a:endParaRPr sz="1800" u="none" strike="noStrike" cap="none" dirty="0"/>
                    </a:p>
                  </a:txBody>
                  <a:tcPr marL="67725" marR="67725" marT="33875" marB="3387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914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회사 브랜드명</a:t>
                      </a:r>
                      <a:endParaRPr sz="1800" u="none" strike="noStrike" cap="none"/>
                    </a:p>
                  </a:txBody>
                  <a:tcPr marL="67725" marR="67725" marT="33875" marB="3387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 err="1" smtClean="0">
                          <a:solidFill>
                            <a:srgbClr val="7030A0"/>
                          </a:solidFill>
                        </a:rPr>
                        <a:t>미친스킨</a:t>
                      </a:r>
                      <a:endParaRPr sz="1800" u="none" strike="noStrike" cap="none" dirty="0">
                        <a:solidFill>
                          <a:srgbClr val="7030A0"/>
                        </a:solidFill>
                      </a:endParaRPr>
                    </a:p>
                  </a:txBody>
                  <a:tcPr marL="67725" marR="67725" marT="33875" marB="3387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914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주요품목</a:t>
                      </a:r>
                      <a:endParaRPr sz="1800" u="none" strike="noStrike" cap="none"/>
                    </a:p>
                  </a:txBody>
                  <a:tcPr marL="67725" marR="67725" marT="33875" marB="3387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u="none" strike="noStrike" cap="none" dirty="0" smtClean="0">
                          <a:solidFill>
                            <a:srgbClr val="7030A0"/>
                          </a:solidFill>
                        </a:rPr>
                        <a:t>맥주효모 </a:t>
                      </a:r>
                      <a:r>
                        <a:rPr lang="ko-KR" altLang="en-US" sz="1800" b="1" u="none" strike="noStrike" cap="none" dirty="0" err="1" smtClean="0">
                          <a:solidFill>
                            <a:srgbClr val="7030A0"/>
                          </a:solidFill>
                        </a:rPr>
                        <a:t>헤머팩</a:t>
                      </a:r>
                      <a:endParaRPr sz="1800" b="1" u="none" strike="noStrike" cap="none" dirty="0">
                        <a:solidFill>
                          <a:srgbClr val="7030A0"/>
                        </a:solidFill>
                      </a:endParaRPr>
                    </a:p>
                  </a:txBody>
                  <a:tcPr marL="67725" marR="67725" marT="33875" marB="3387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7236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제품특징</a:t>
                      </a:r>
                      <a:endParaRPr sz="1800" u="none" strike="noStrike" cap="none"/>
                    </a:p>
                  </a:txBody>
                  <a:tcPr marL="67725" marR="67725" marT="33875" marB="3387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 smtClean="0">
                          <a:solidFill>
                            <a:srgbClr val="7030A0"/>
                          </a:solidFill>
                        </a:rPr>
                        <a:t>맥주효모 원료로 모발고민을 없애주는 </a:t>
                      </a:r>
                      <a:r>
                        <a:rPr lang="ko-KR" altLang="en-US" sz="1800" u="none" strike="noStrike" cap="none" dirty="0" err="1" smtClean="0">
                          <a:solidFill>
                            <a:srgbClr val="7030A0"/>
                          </a:solidFill>
                        </a:rPr>
                        <a:t>마법같은</a:t>
                      </a:r>
                      <a:r>
                        <a:rPr lang="ko-KR" altLang="en-US" sz="1800" u="none" strike="noStrike" cap="none" dirty="0" smtClean="0">
                          <a:solidFill>
                            <a:srgbClr val="7030A0"/>
                          </a:solidFill>
                        </a:rPr>
                        <a:t> 샴푸</a:t>
                      </a:r>
                      <a:endParaRPr lang="en-US" altLang="ko-KR" sz="1800" u="none" strike="noStrike" cap="none" dirty="0" smtClean="0">
                        <a:solidFill>
                          <a:srgbClr val="7030A0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 err="1" smtClean="0">
                          <a:solidFill>
                            <a:srgbClr val="7030A0"/>
                          </a:solidFill>
                        </a:rPr>
                        <a:t>네이버</a:t>
                      </a:r>
                      <a:r>
                        <a:rPr lang="ko-KR" altLang="en-US" sz="1800" u="none" strike="noStrike" cap="none" dirty="0" smtClean="0">
                          <a:solidFill>
                            <a:srgbClr val="7030A0"/>
                          </a:solidFill>
                        </a:rPr>
                        <a:t> 실시간 </a:t>
                      </a:r>
                      <a:r>
                        <a:rPr lang="ko-KR" altLang="en-US" sz="1800" u="none" strike="noStrike" cap="none" dirty="0" err="1" smtClean="0">
                          <a:solidFill>
                            <a:srgbClr val="7030A0"/>
                          </a:solidFill>
                        </a:rPr>
                        <a:t>검색어</a:t>
                      </a:r>
                      <a:r>
                        <a:rPr lang="ko-KR" altLang="en-US" sz="1800" u="none" strike="noStrike" cap="none" dirty="0" smtClean="0">
                          <a:solidFill>
                            <a:srgbClr val="7030A0"/>
                          </a:solidFill>
                        </a:rPr>
                        <a:t> </a:t>
                      </a:r>
                      <a:r>
                        <a:rPr lang="en-US" altLang="ko-KR" sz="1800" u="none" strike="noStrike" cap="none" dirty="0" smtClean="0">
                          <a:solidFill>
                            <a:srgbClr val="7030A0"/>
                          </a:solidFill>
                        </a:rPr>
                        <a:t>1</a:t>
                      </a:r>
                      <a:r>
                        <a:rPr lang="ko-KR" altLang="en-US" sz="1800" u="none" strike="noStrike" cap="none" dirty="0" smtClean="0">
                          <a:solidFill>
                            <a:srgbClr val="7030A0"/>
                          </a:solidFill>
                        </a:rPr>
                        <a:t>위 </a:t>
                      </a:r>
                      <a:r>
                        <a:rPr lang="en-US" altLang="ko-KR" sz="1800" u="none" strike="noStrike" cap="none" dirty="0" smtClean="0">
                          <a:solidFill>
                            <a:srgbClr val="7030A0"/>
                          </a:solidFill>
                        </a:rPr>
                        <a:t>/ </a:t>
                      </a:r>
                      <a:r>
                        <a:rPr lang="ko-KR" altLang="en-US" sz="1800" u="none" strike="noStrike" cap="none" dirty="0" smtClean="0">
                          <a:solidFill>
                            <a:srgbClr val="7030A0"/>
                          </a:solidFill>
                        </a:rPr>
                        <a:t>맥주효모성분 </a:t>
                      </a:r>
                      <a:r>
                        <a:rPr lang="en-US" altLang="ko-KR" sz="1800" u="none" strike="noStrike" cap="none" dirty="0" smtClean="0">
                          <a:solidFill>
                            <a:srgbClr val="7030A0"/>
                          </a:solidFill>
                        </a:rPr>
                        <a:t>/ </a:t>
                      </a:r>
                      <a:r>
                        <a:rPr lang="ko-KR" altLang="en-US" sz="1800" u="none" strike="noStrike" cap="none" dirty="0" smtClean="0">
                          <a:solidFill>
                            <a:srgbClr val="7030A0"/>
                          </a:solidFill>
                        </a:rPr>
                        <a:t>손상모에 탁월</a:t>
                      </a:r>
                      <a:endParaRPr sz="1800" u="none" strike="noStrike" cap="none" dirty="0">
                        <a:solidFill>
                          <a:srgbClr val="7030A0"/>
                        </a:solidFill>
                      </a:endParaRPr>
                    </a:p>
                  </a:txBody>
                  <a:tcPr marL="67725" marR="67725" marT="33875" marB="3387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9878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코어타깃</a:t>
                      </a:r>
                      <a:endParaRPr sz="1800" u="none" strike="noStrike" cap="none"/>
                    </a:p>
                  </a:txBody>
                  <a:tcPr marL="67725" marR="67725" marT="33875" marB="3387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 smtClean="0">
                          <a:solidFill>
                            <a:srgbClr val="7030A0"/>
                          </a:solidFill>
                        </a:rPr>
                        <a:t>부드러운 </a:t>
                      </a:r>
                      <a:r>
                        <a:rPr lang="ko-KR" altLang="en-US" sz="1800" u="none" strike="noStrike" cap="none" dirty="0" err="1" smtClean="0">
                          <a:solidFill>
                            <a:srgbClr val="7030A0"/>
                          </a:solidFill>
                        </a:rPr>
                        <a:t>머릿결을</a:t>
                      </a:r>
                      <a:r>
                        <a:rPr lang="ko-KR" altLang="en-US" sz="1800" u="none" strike="noStrike" cap="none" dirty="0" smtClean="0">
                          <a:solidFill>
                            <a:srgbClr val="7030A0"/>
                          </a:solidFill>
                        </a:rPr>
                        <a:t> 갖고 싶은 여성고객층</a:t>
                      </a:r>
                      <a:endParaRPr sz="1800" u="none" strike="noStrike" cap="none" dirty="0">
                        <a:solidFill>
                          <a:srgbClr val="7030A0"/>
                        </a:solidFill>
                      </a:endParaRPr>
                    </a:p>
                  </a:txBody>
                  <a:tcPr marL="67725" marR="67725" marT="33875" marB="3387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9878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타깃의 특징</a:t>
                      </a:r>
                      <a:endParaRPr sz="1800" u="none" strike="noStrike" cap="none"/>
                    </a:p>
                  </a:txBody>
                  <a:tcPr marL="67725" marR="67725" marT="33875" marB="3387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 err="1" smtClean="0">
                          <a:solidFill>
                            <a:srgbClr val="7030A0"/>
                          </a:solidFill>
                        </a:rPr>
                        <a:t>곱슬기운</a:t>
                      </a:r>
                      <a:r>
                        <a:rPr lang="ko-KR" altLang="en-US" sz="1800" u="none" strike="noStrike" cap="none" dirty="0" smtClean="0">
                          <a:solidFill>
                            <a:srgbClr val="7030A0"/>
                          </a:solidFill>
                        </a:rPr>
                        <a:t> 또는 잦은 파마 염색 탈색 등으로 손상된 머리카락을</a:t>
                      </a:r>
                      <a:endParaRPr lang="en-US" altLang="ko-KR" sz="1800" u="none" strike="noStrike" cap="none" dirty="0" smtClean="0">
                        <a:solidFill>
                          <a:srgbClr val="7030A0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 smtClean="0">
                          <a:solidFill>
                            <a:srgbClr val="7030A0"/>
                          </a:solidFill>
                        </a:rPr>
                        <a:t>걱정하는 고객</a:t>
                      </a:r>
                      <a:endParaRPr sz="1800" u="none" strike="noStrike" cap="none" dirty="0">
                        <a:solidFill>
                          <a:srgbClr val="7030A0"/>
                        </a:solidFill>
                      </a:endParaRPr>
                    </a:p>
                  </a:txBody>
                  <a:tcPr marL="67725" marR="67725" marT="33875" marB="3387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8914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구매상황</a:t>
                      </a:r>
                      <a:endParaRPr sz="1800" u="none" strike="noStrike" cap="none"/>
                    </a:p>
                  </a:txBody>
                  <a:tcPr marL="67725" marR="67725" marT="33875" marB="3387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 smtClean="0">
                          <a:solidFill>
                            <a:srgbClr val="7030A0"/>
                          </a:solidFill>
                        </a:rPr>
                        <a:t>탈색 후 머리가 거칠어졌다</a:t>
                      </a:r>
                      <a:r>
                        <a:rPr lang="en-US" altLang="ko-KR" sz="1800" u="none" strike="noStrike" cap="none" dirty="0" smtClean="0">
                          <a:solidFill>
                            <a:srgbClr val="7030A0"/>
                          </a:solidFill>
                        </a:rPr>
                        <a:t>..</a:t>
                      </a:r>
                      <a:endParaRPr sz="1800" u="none" strike="noStrike" cap="none" dirty="0">
                        <a:solidFill>
                          <a:srgbClr val="7030A0"/>
                        </a:solidFill>
                      </a:endParaRPr>
                    </a:p>
                  </a:txBody>
                  <a:tcPr marL="67725" marR="67725" marT="33875" marB="3387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69878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시기</a:t>
                      </a:r>
                      <a:endParaRPr sz="1800" u="none" strike="noStrike" cap="none"/>
                    </a:p>
                  </a:txBody>
                  <a:tcPr marL="67725" marR="67725" marT="33875" marB="3387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 smtClean="0">
                          <a:solidFill>
                            <a:srgbClr val="7030A0"/>
                          </a:solidFill>
                        </a:rPr>
                        <a:t>샴푸 유목민이거나 아무거나 쓰곤 했는데 </a:t>
                      </a:r>
                      <a:endParaRPr lang="en-US" altLang="ko-KR" sz="1800" u="none" strike="noStrike" cap="none" dirty="0" smtClean="0">
                        <a:solidFill>
                          <a:srgbClr val="7030A0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 smtClean="0">
                          <a:solidFill>
                            <a:srgbClr val="7030A0"/>
                          </a:solidFill>
                        </a:rPr>
                        <a:t>내 머리카락은 점점 거칠어지고 있다</a:t>
                      </a:r>
                      <a:endParaRPr lang="en-US" altLang="ko-KR" sz="1800" u="none" strike="noStrike" cap="none" dirty="0" smtClean="0">
                        <a:solidFill>
                          <a:srgbClr val="7030A0"/>
                        </a:solidFill>
                      </a:endParaRPr>
                    </a:p>
                  </a:txBody>
                  <a:tcPr marL="67725" marR="67725" marT="33875" marB="3387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90840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이미지 계획</a:t>
                      </a:r>
                      <a:endParaRPr sz="1800" u="none" strike="noStrike" cap="none"/>
                    </a:p>
                  </a:txBody>
                  <a:tcPr marL="67725" marR="67725" marT="33875" marB="3387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 err="1" smtClean="0">
                          <a:solidFill>
                            <a:srgbClr val="7030A0"/>
                          </a:solidFill>
                        </a:rPr>
                        <a:t>엘라스틴</a:t>
                      </a:r>
                      <a:r>
                        <a:rPr lang="ko-KR" altLang="en-US" sz="1800" u="none" strike="noStrike" cap="none" dirty="0" smtClean="0">
                          <a:solidFill>
                            <a:srgbClr val="7030A0"/>
                          </a:solidFill>
                        </a:rPr>
                        <a:t> 같지만 더 건강한 이미지</a:t>
                      </a:r>
                      <a:r>
                        <a:rPr lang="en-US" altLang="ko-KR" sz="1800" u="none" strike="noStrike" cap="none" dirty="0" smtClean="0">
                          <a:solidFill>
                            <a:srgbClr val="7030A0"/>
                          </a:solidFill>
                        </a:rPr>
                        <a:t>.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 smtClean="0">
                          <a:solidFill>
                            <a:srgbClr val="7030A0"/>
                          </a:solidFill>
                        </a:rPr>
                        <a:t>맥주의 </a:t>
                      </a:r>
                      <a:r>
                        <a:rPr lang="ko-KR" altLang="en-US" sz="1800" u="none" strike="noStrike" cap="none" dirty="0" err="1" smtClean="0">
                          <a:solidFill>
                            <a:srgbClr val="7030A0"/>
                          </a:solidFill>
                        </a:rPr>
                        <a:t>황금빛같은</a:t>
                      </a:r>
                      <a:r>
                        <a:rPr lang="ko-KR" altLang="en-US" sz="1800" u="none" strike="noStrike" cap="none" dirty="0" smtClean="0">
                          <a:solidFill>
                            <a:srgbClr val="7030A0"/>
                          </a:solidFill>
                        </a:rPr>
                        <a:t> 머리카락을 연상시키는 이미지</a:t>
                      </a:r>
                      <a:r>
                        <a:rPr lang="en-US" altLang="ko-KR" sz="1800" u="none" strike="noStrike" cap="none" dirty="0" smtClean="0">
                          <a:solidFill>
                            <a:srgbClr val="7030A0"/>
                          </a:solidFill>
                        </a:rPr>
                        <a:t>.</a:t>
                      </a:r>
                      <a:endParaRPr lang="en-US" altLang="ko-KR" sz="1800" u="none" strike="noStrike" cap="none" dirty="0" smtClean="0">
                        <a:solidFill>
                          <a:srgbClr val="7030A0"/>
                        </a:solidFill>
                      </a:endParaRPr>
                    </a:p>
                  </a:txBody>
                  <a:tcPr marL="67725" marR="67725" marT="33875" marB="3387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7" name="Google Shape;87;p13"/>
          <p:cNvSpPr txBox="1"/>
          <p:nvPr/>
        </p:nvSpPr>
        <p:spPr>
          <a:xfrm>
            <a:off x="0" y="0"/>
            <a:ext cx="813690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상품이 이미 존재하는 경우 먼저 수행 </a:t>
            </a:r>
            <a:endParaRPr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791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18" y="932710"/>
            <a:ext cx="9148018" cy="5335480"/>
          </a:xfrm>
          <a:prstGeom prst="rect">
            <a:avLst/>
          </a:prstGeom>
        </p:spPr>
      </p:pic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55644"/>
              </p:ext>
            </p:extLst>
          </p:nvPr>
        </p:nvGraphicFramePr>
        <p:xfrm>
          <a:off x="8149700" y="1542000"/>
          <a:ext cx="775688" cy="4572000"/>
        </p:xfrm>
        <a:graphic>
          <a:graphicData uri="http://schemas.openxmlformats.org/drawingml/2006/table">
            <a:tbl>
              <a:tblPr firstRow="1" bandRow="1">
                <a:tableStyleId>{B8C33B90-BAAC-4CBC-8DBB-C1CFDFB8418E}</a:tableStyleId>
              </a:tblPr>
              <a:tblGrid>
                <a:gridCol w="387844"/>
                <a:gridCol w="387844"/>
              </a:tblGrid>
              <a:tr h="4485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dirty="0" smtClean="0">
                          <a:solidFill>
                            <a:schemeClr val="bg1"/>
                          </a:solidFill>
                        </a:rPr>
                        <a:t>v</a:t>
                      </a:r>
                      <a:endParaRPr lang="ko-KR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8594">
                <a:tc>
                  <a:txBody>
                    <a:bodyPr/>
                    <a:lstStyle/>
                    <a:p>
                      <a:pPr latinLnBrk="1"/>
                      <a:endParaRPr lang="ko-KR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8594">
                <a:tc>
                  <a:txBody>
                    <a:bodyPr/>
                    <a:lstStyle/>
                    <a:p>
                      <a:pPr latinLnBrk="1"/>
                      <a:endParaRPr lang="ko-KR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8594">
                <a:tc>
                  <a:txBody>
                    <a:bodyPr/>
                    <a:lstStyle/>
                    <a:p>
                      <a:pPr latinLnBrk="1"/>
                      <a:endParaRPr lang="ko-KR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8594">
                <a:tc>
                  <a:txBody>
                    <a:bodyPr/>
                    <a:lstStyle/>
                    <a:p>
                      <a:pPr latinLnBrk="1"/>
                      <a:endParaRPr lang="ko-KR" altLang="en-US" sz="2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8594">
                <a:tc>
                  <a:txBody>
                    <a:bodyPr/>
                    <a:lstStyle/>
                    <a:p>
                      <a:pPr latinLnBrk="1"/>
                      <a:endParaRPr lang="ko-KR" altLang="en-US" sz="2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8594">
                <a:tc>
                  <a:txBody>
                    <a:bodyPr/>
                    <a:lstStyle/>
                    <a:p>
                      <a:pPr latinLnBrk="1"/>
                      <a:endParaRPr lang="ko-KR" altLang="en-US" sz="2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8594">
                <a:tc>
                  <a:txBody>
                    <a:bodyPr/>
                    <a:lstStyle/>
                    <a:p>
                      <a:pPr latinLnBrk="1"/>
                      <a:endParaRPr lang="ko-KR" altLang="en-US" sz="2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8594">
                <a:tc>
                  <a:txBody>
                    <a:bodyPr/>
                    <a:lstStyle/>
                    <a:p>
                      <a:pPr latinLnBrk="1"/>
                      <a:endParaRPr lang="ko-KR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8594">
                <a:tc>
                  <a:txBody>
                    <a:bodyPr/>
                    <a:lstStyle/>
                    <a:p>
                      <a:pPr latinLnBrk="1"/>
                      <a:endParaRPr lang="ko-KR" altLang="en-US" sz="24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6465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1039</TotalTime>
  <Words>83</Words>
  <Application>Microsoft Office PowerPoint</Application>
  <PresentationFormat>화면 슬라이드 쇼(4:3)</PresentationFormat>
  <Paragraphs>24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iibi0300</dc:creator>
  <cp:lastModifiedBy>thecharmingpark@gmail.com</cp:lastModifiedBy>
  <cp:revision>24</cp:revision>
  <dcterms:modified xsi:type="dcterms:W3CDTF">2021-03-17T14:33:41Z</dcterms:modified>
</cp:coreProperties>
</file>